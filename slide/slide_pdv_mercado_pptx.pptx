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</p:sldIdLst>
  <p:sldSz cx="18288000" cy="10287000"/>
  <p:notesSz cx="6858000" cy="9144000"/>
  <p:embeddedFontLst>
    <p:embeddedFont>
      <p:font typeface="Bricolage Grotesque" charset="1" panose="020B0605040402000204"/>
      <p:regular r:id="rId18"/>
    </p:embeddedFont>
    <p:embeddedFont>
      <p:font typeface="Bricolage Grotesque Bold" charset="1" panose="020B0605040402000204"/>
      <p:regular r:id="rId19"/>
    </p:embeddedFont>
    <p:embeddedFont>
      <p:font typeface="Aileron" charset="1" panose="00000500000000000000"/>
      <p:regular r:id="rId20"/>
    </p:embeddedFont>
    <p:embeddedFont>
      <p:font typeface="Aileron Light" charset="1" panose="00000400000000000000"/>
      <p:regular r:id="rId21"/>
    </p:embeddedFont>
    <p:embeddedFont>
      <p:font typeface="Aileron Bold" charset="1" panose="00000800000000000000"/>
      <p:regular r:id="rId2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fonts/font21.fntdata" Type="http://schemas.openxmlformats.org/officeDocument/2006/relationships/font"/><Relationship Id="rId22" Target="fonts/font22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Relationship Id="rId4" Target="../media/image5.jpeg" Type="http://schemas.openxmlformats.org/officeDocument/2006/relationships/image"/><Relationship Id="rId5" Target="../media/image1.png" Type="http://schemas.openxmlformats.org/officeDocument/2006/relationships/image"/><Relationship Id="rId6" Target="../media/image2.svg" Type="http://schemas.openxmlformats.org/officeDocument/2006/relationships/image"/><Relationship Id="rId7" Target="../media/image6.png" Type="http://schemas.openxmlformats.org/officeDocument/2006/relationships/image"/><Relationship Id="rId8" Target="../media/image7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Relationship Id="rId4" Target="../media/image6.png" Type="http://schemas.openxmlformats.org/officeDocument/2006/relationships/image"/><Relationship Id="rId5" Target="../media/image7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6.png" Type="http://schemas.openxmlformats.org/officeDocument/2006/relationships/image"/><Relationship Id="rId5" Target="../media/image7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6.png" Type="http://schemas.openxmlformats.org/officeDocument/2006/relationships/image"/><Relationship Id="rId5" Target="../media/image7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6.png" Type="http://schemas.openxmlformats.org/officeDocument/2006/relationships/image"/><Relationship Id="rId5" Target="../media/image7.svg" Type="http://schemas.openxmlformats.org/officeDocument/2006/relationships/image"/><Relationship Id="rId6" Target="../media/image8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1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2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Relationship Id="rId3" Target="../media/image7.sv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6.png" Type="http://schemas.openxmlformats.org/officeDocument/2006/relationships/image"/><Relationship Id="rId7" Target="../media/image7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FF0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7314118">
            <a:off x="-2515665" y="-2916234"/>
            <a:ext cx="7730547" cy="8766599"/>
          </a:xfrm>
          <a:custGeom>
            <a:avLst/>
            <a:gdLst/>
            <a:ahLst/>
            <a:cxnLst/>
            <a:rect r="r" b="b" t="t" l="l"/>
            <a:pathLst>
              <a:path h="8766599" w="7730547">
                <a:moveTo>
                  <a:pt x="0" y="0"/>
                </a:moveTo>
                <a:lnTo>
                  <a:pt x="7730546" y="0"/>
                </a:lnTo>
                <a:lnTo>
                  <a:pt x="7730546" y="8766599"/>
                </a:lnTo>
                <a:lnTo>
                  <a:pt x="0" y="876659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6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722289" y="5176367"/>
            <a:ext cx="11936264" cy="12750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0462"/>
              </a:lnSpc>
              <a:spcBef>
                <a:spcPct val="0"/>
              </a:spcBef>
            </a:pPr>
            <a:r>
              <a:rPr lang="en-US" sz="7473" spc="-97">
                <a:solidFill>
                  <a:srgbClr val="377272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Sistema de </a:t>
            </a:r>
            <a:r>
              <a:rPr lang="en-US" sz="7473" spc="-97">
                <a:solidFill>
                  <a:srgbClr val="377272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Ponto de Venda 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1337708" y="5287714"/>
            <a:ext cx="12660981" cy="1163705"/>
            <a:chOff x="0" y="0"/>
            <a:chExt cx="3123325" cy="287073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3123325" cy="287073"/>
            </a:xfrm>
            <a:custGeom>
              <a:avLst/>
              <a:gdLst/>
              <a:ahLst/>
              <a:cxnLst/>
              <a:rect r="r" b="b" t="t" l="l"/>
              <a:pathLst>
                <a:path h="287073" w="3123325">
                  <a:moveTo>
                    <a:pt x="61148" y="0"/>
                  </a:moveTo>
                  <a:lnTo>
                    <a:pt x="3062177" y="0"/>
                  </a:lnTo>
                  <a:cubicBezTo>
                    <a:pt x="3078394" y="0"/>
                    <a:pt x="3093948" y="6442"/>
                    <a:pt x="3105415" y="17910"/>
                  </a:cubicBezTo>
                  <a:cubicBezTo>
                    <a:pt x="3116882" y="29377"/>
                    <a:pt x="3123325" y="44930"/>
                    <a:pt x="3123325" y="61148"/>
                  </a:cubicBezTo>
                  <a:lnTo>
                    <a:pt x="3123325" y="225925"/>
                  </a:lnTo>
                  <a:cubicBezTo>
                    <a:pt x="3123325" y="242143"/>
                    <a:pt x="3116882" y="257696"/>
                    <a:pt x="3105415" y="269164"/>
                  </a:cubicBezTo>
                  <a:cubicBezTo>
                    <a:pt x="3093948" y="280631"/>
                    <a:pt x="3078394" y="287073"/>
                    <a:pt x="3062177" y="287073"/>
                  </a:cubicBezTo>
                  <a:lnTo>
                    <a:pt x="61148" y="287073"/>
                  </a:lnTo>
                  <a:cubicBezTo>
                    <a:pt x="27377" y="287073"/>
                    <a:pt x="0" y="259696"/>
                    <a:pt x="0" y="225925"/>
                  </a:cubicBezTo>
                  <a:lnTo>
                    <a:pt x="0" y="61148"/>
                  </a:lnTo>
                  <a:cubicBezTo>
                    <a:pt x="0" y="27377"/>
                    <a:pt x="27377" y="0"/>
                    <a:pt x="61148" y="0"/>
                  </a:cubicBezTo>
                  <a:close/>
                </a:path>
              </a:pathLst>
            </a:custGeom>
            <a:ln w="19050" cap="rnd">
              <a:gradFill>
                <a:gsLst>
                  <a:gs pos="0">
                    <a:srgbClr val="3B6261">
                      <a:alpha val="100000"/>
                    </a:srgbClr>
                  </a:gs>
                  <a:gs pos="100000">
                    <a:srgbClr val="6F9F97">
                      <a:alpha val="100000"/>
                    </a:srgbClr>
                  </a:gs>
                </a:gsLst>
                <a:lin ang="0"/>
              </a:gradFill>
              <a:prstDash val="solid"/>
              <a:round/>
            </a:ln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3123325" cy="32517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7" id="7"/>
          <p:cNvSpPr/>
          <p:nvPr/>
        </p:nvSpPr>
        <p:spPr>
          <a:xfrm flipH="false" flipV="false" rot="9108086">
            <a:off x="12885272" y="-2581727"/>
            <a:ext cx="6508252" cy="7380492"/>
          </a:xfrm>
          <a:custGeom>
            <a:avLst/>
            <a:gdLst/>
            <a:ahLst/>
            <a:cxnLst/>
            <a:rect r="r" b="b" t="t" l="l"/>
            <a:pathLst>
              <a:path h="7380492" w="6508252">
                <a:moveTo>
                  <a:pt x="0" y="0"/>
                </a:moveTo>
                <a:lnTo>
                  <a:pt x="6508252" y="0"/>
                </a:lnTo>
                <a:lnTo>
                  <a:pt x="6508252" y="7380492"/>
                </a:lnTo>
                <a:lnTo>
                  <a:pt x="0" y="738049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1028700" y="2683299"/>
            <a:ext cx="13278997" cy="27549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2420"/>
              </a:lnSpc>
              <a:spcBef>
                <a:spcPct val="0"/>
              </a:spcBef>
            </a:pPr>
            <a:r>
              <a:rPr lang="en-US" b="true" sz="16014" spc="-208">
                <a:solidFill>
                  <a:srgbClr val="2E6D6D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PDV Me</a:t>
            </a:r>
            <a:r>
              <a:rPr lang="en-US" b="true" sz="16014" spc="-208">
                <a:solidFill>
                  <a:srgbClr val="2E6D6D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rcado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767506" y="8338780"/>
            <a:ext cx="5727436" cy="12468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452"/>
              </a:lnSpc>
            </a:pPr>
            <a:r>
              <a:rPr lang="en-US" sz="2724">
                <a:solidFill>
                  <a:srgbClr val="377272"/>
                </a:solidFill>
                <a:latin typeface="Aileron"/>
                <a:ea typeface="Aileron"/>
                <a:cs typeface="Aileron"/>
                <a:sym typeface="Aileron"/>
              </a:rPr>
              <a:t>Discentes: </a:t>
            </a:r>
          </a:p>
          <a:p>
            <a:pPr algn="just">
              <a:lnSpc>
                <a:spcPts val="2452"/>
              </a:lnSpc>
            </a:pPr>
            <a:r>
              <a:rPr lang="en-US" sz="2724">
                <a:solidFill>
                  <a:srgbClr val="377272"/>
                </a:solidFill>
                <a:latin typeface="Aileron"/>
                <a:ea typeface="Aileron"/>
                <a:cs typeface="Aileron"/>
                <a:sym typeface="Aileron"/>
              </a:rPr>
              <a:t>João Victor Reis Lisboa</a:t>
            </a:r>
          </a:p>
          <a:p>
            <a:pPr algn="just">
              <a:lnSpc>
                <a:spcPts val="2452"/>
              </a:lnSpc>
            </a:pPr>
            <a:r>
              <a:rPr lang="en-US" sz="2724">
                <a:solidFill>
                  <a:srgbClr val="377272"/>
                </a:solidFill>
                <a:latin typeface="Aileron"/>
                <a:ea typeface="Aileron"/>
                <a:cs typeface="Aileron"/>
                <a:sym typeface="Aileron"/>
              </a:rPr>
              <a:t>João Emannuel Neves de Brito</a:t>
            </a:r>
          </a:p>
          <a:p>
            <a:pPr algn="just" marL="0" indent="0" lvl="0">
              <a:lnSpc>
                <a:spcPts val="2452"/>
              </a:lnSpc>
              <a:spcBef>
                <a:spcPct val="0"/>
              </a:spcBef>
            </a:pPr>
            <a:r>
              <a:rPr lang="en-US" sz="2724">
                <a:solidFill>
                  <a:srgbClr val="377272"/>
                </a:solidFill>
                <a:latin typeface="Aileron"/>
                <a:ea typeface="Aileron"/>
                <a:cs typeface="Aileron"/>
                <a:sym typeface="Aileron"/>
              </a:rPr>
              <a:t>Alice Fernanda Silva Barros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FF0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2201486">
            <a:off x="12035438" y="445194"/>
            <a:ext cx="9368655" cy="9799083"/>
          </a:xfrm>
          <a:custGeom>
            <a:avLst/>
            <a:gdLst/>
            <a:ahLst/>
            <a:cxnLst/>
            <a:rect r="r" b="b" t="t" l="l"/>
            <a:pathLst>
              <a:path h="9799083" w="9368655">
                <a:moveTo>
                  <a:pt x="0" y="0"/>
                </a:moveTo>
                <a:lnTo>
                  <a:pt x="9368656" y="0"/>
                </a:lnTo>
                <a:lnTo>
                  <a:pt x="9368656" y="9799083"/>
                </a:lnTo>
                <a:lnTo>
                  <a:pt x="0" y="979908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9324068" y="3391654"/>
            <a:ext cx="8115300" cy="4730871"/>
            <a:chOff x="0" y="0"/>
            <a:chExt cx="1257272" cy="732936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257272" cy="732936"/>
            </a:xfrm>
            <a:custGeom>
              <a:avLst/>
              <a:gdLst/>
              <a:ahLst/>
              <a:cxnLst/>
              <a:rect r="r" b="b" t="t" l="l"/>
              <a:pathLst>
                <a:path h="732936" w="1257272">
                  <a:moveTo>
                    <a:pt x="28620" y="0"/>
                  </a:moveTo>
                  <a:lnTo>
                    <a:pt x="1228653" y="0"/>
                  </a:lnTo>
                  <a:cubicBezTo>
                    <a:pt x="1244459" y="0"/>
                    <a:pt x="1257272" y="12813"/>
                    <a:pt x="1257272" y="28620"/>
                  </a:cubicBezTo>
                  <a:lnTo>
                    <a:pt x="1257272" y="704316"/>
                  </a:lnTo>
                  <a:cubicBezTo>
                    <a:pt x="1257272" y="720122"/>
                    <a:pt x="1244459" y="732936"/>
                    <a:pt x="1228653" y="732936"/>
                  </a:cubicBezTo>
                  <a:lnTo>
                    <a:pt x="28620" y="732936"/>
                  </a:lnTo>
                  <a:cubicBezTo>
                    <a:pt x="12813" y="732936"/>
                    <a:pt x="0" y="720122"/>
                    <a:pt x="0" y="704316"/>
                  </a:cubicBezTo>
                  <a:lnTo>
                    <a:pt x="0" y="28620"/>
                  </a:lnTo>
                  <a:cubicBezTo>
                    <a:pt x="0" y="12813"/>
                    <a:pt x="12813" y="0"/>
                    <a:pt x="28620" y="0"/>
                  </a:cubicBezTo>
                  <a:close/>
                </a:path>
              </a:pathLst>
            </a:custGeom>
            <a:blipFill>
              <a:blip r:embed="rId4"/>
              <a:stretch>
                <a:fillRect l="0" t="-7231" r="0" b="-7231"/>
              </a:stretch>
            </a:blipFill>
            <a:ln w="19050" cap="rnd">
              <a:solidFill>
                <a:srgbClr val="163B42"/>
              </a:solidFill>
              <a:prstDash val="solid"/>
              <a:round/>
            </a:ln>
          </p:spPr>
        </p:sp>
      </p:grpSp>
      <p:sp>
        <p:nvSpPr>
          <p:cNvPr name="Freeform 5" id="5"/>
          <p:cNvSpPr/>
          <p:nvPr/>
        </p:nvSpPr>
        <p:spPr>
          <a:xfrm flipH="false" flipV="false" rot="10614542">
            <a:off x="-5705683" y="-579915"/>
            <a:ext cx="9368655" cy="9799083"/>
          </a:xfrm>
          <a:custGeom>
            <a:avLst/>
            <a:gdLst/>
            <a:ahLst/>
            <a:cxnLst/>
            <a:rect r="r" b="b" t="t" l="l"/>
            <a:pathLst>
              <a:path h="9799083" w="9368655">
                <a:moveTo>
                  <a:pt x="0" y="0"/>
                </a:moveTo>
                <a:lnTo>
                  <a:pt x="9368655" y="0"/>
                </a:lnTo>
                <a:lnTo>
                  <a:pt x="9368655" y="9799083"/>
                </a:lnTo>
                <a:lnTo>
                  <a:pt x="0" y="979908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305393" y="2848729"/>
            <a:ext cx="8405126" cy="6108996"/>
            <a:chOff x="0" y="0"/>
            <a:chExt cx="2213696" cy="1608954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213696" cy="1608954"/>
            </a:xfrm>
            <a:custGeom>
              <a:avLst/>
              <a:gdLst/>
              <a:ahLst/>
              <a:cxnLst/>
              <a:rect r="r" b="b" t="t" l="l"/>
              <a:pathLst>
                <a:path h="1608954" w="2213696">
                  <a:moveTo>
                    <a:pt x="27633" y="0"/>
                  </a:moveTo>
                  <a:lnTo>
                    <a:pt x="2186063" y="0"/>
                  </a:lnTo>
                  <a:cubicBezTo>
                    <a:pt x="2201324" y="0"/>
                    <a:pt x="2213696" y="12372"/>
                    <a:pt x="2213696" y="27633"/>
                  </a:cubicBezTo>
                  <a:lnTo>
                    <a:pt x="2213696" y="1581321"/>
                  </a:lnTo>
                  <a:cubicBezTo>
                    <a:pt x="2213696" y="1596582"/>
                    <a:pt x="2201324" y="1608954"/>
                    <a:pt x="2186063" y="1608954"/>
                  </a:cubicBezTo>
                  <a:lnTo>
                    <a:pt x="27633" y="1608954"/>
                  </a:lnTo>
                  <a:cubicBezTo>
                    <a:pt x="12372" y="1608954"/>
                    <a:pt x="0" y="1596582"/>
                    <a:pt x="0" y="1581321"/>
                  </a:cubicBezTo>
                  <a:lnTo>
                    <a:pt x="0" y="27633"/>
                  </a:lnTo>
                  <a:cubicBezTo>
                    <a:pt x="0" y="12372"/>
                    <a:pt x="12372" y="0"/>
                    <a:pt x="27633" y="0"/>
                  </a:cubicBezTo>
                  <a:close/>
                </a:path>
              </a:pathLst>
            </a:custGeom>
            <a:ln w="19050" cap="rnd">
              <a:gradFill>
                <a:gsLst>
                  <a:gs pos="0">
                    <a:srgbClr val="3B6261">
                      <a:alpha val="100000"/>
                    </a:srgbClr>
                  </a:gs>
                  <a:gs pos="100000">
                    <a:srgbClr val="6F9F97">
                      <a:alpha val="100000"/>
                    </a:srgbClr>
                  </a:gs>
                </a:gsLst>
                <a:lin ang="0"/>
              </a:gradFill>
              <a:prstDash val="solid"/>
              <a:round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2213696" cy="164705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9" id="9"/>
          <p:cNvSpPr txBox="true"/>
          <p:nvPr/>
        </p:nvSpPr>
        <p:spPr>
          <a:xfrm rot="0">
            <a:off x="704514" y="3537534"/>
            <a:ext cx="7638071" cy="47028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159"/>
              </a:lnSpc>
            </a:pPr>
            <a:r>
              <a:rPr lang="en-US" sz="3199">
                <a:solidFill>
                  <a:srgbClr val="2E6D6D"/>
                </a:solidFill>
                <a:latin typeface="Aileron"/>
                <a:ea typeface="Aileron"/>
                <a:cs typeface="Aileron"/>
                <a:sym typeface="Aileron"/>
              </a:rPr>
              <a:t>O sistema criado tem como objetivo auxiliar o comerciante a ter controle sobre os dados da sua empresa e das suas vendas. Criamos um sistema de supermercado ágil e eficaz, que organiza estoque, vendas e pagamentos, dando mais controle e visibilidade ao comerciante que está iniciando seu negócio.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4741933" y="1049152"/>
            <a:ext cx="8171271" cy="14471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0580"/>
              </a:lnSpc>
            </a:pPr>
            <a:r>
              <a:rPr lang="en-US" b="true" sz="11500" spc="-149">
                <a:solidFill>
                  <a:srgbClr val="377272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Introdução</a:t>
            </a:r>
          </a:p>
        </p:txBody>
      </p:sp>
      <p:sp>
        <p:nvSpPr>
          <p:cNvPr name="Freeform 11" id="11"/>
          <p:cNvSpPr/>
          <p:nvPr/>
        </p:nvSpPr>
        <p:spPr>
          <a:xfrm flipH="false" flipV="false" rot="-670073">
            <a:off x="13966277" y="-2197165"/>
            <a:ext cx="6016318" cy="6822629"/>
          </a:xfrm>
          <a:custGeom>
            <a:avLst/>
            <a:gdLst/>
            <a:ahLst/>
            <a:cxnLst/>
            <a:rect r="r" b="b" t="t" l="l"/>
            <a:pathLst>
              <a:path h="6822629" w="6016318">
                <a:moveTo>
                  <a:pt x="0" y="0"/>
                </a:moveTo>
                <a:lnTo>
                  <a:pt x="6016318" y="0"/>
                </a:lnTo>
                <a:lnTo>
                  <a:pt x="6016318" y="6822628"/>
                </a:lnTo>
                <a:lnTo>
                  <a:pt x="0" y="6822628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alphaModFix amt="6000"/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14703045" y="1060589"/>
            <a:ext cx="2556255" cy="3002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375"/>
              </a:lnSpc>
            </a:pPr>
            <a:r>
              <a:rPr lang="en-US" sz="2199" spc="-15">
                <a:solidFill>
                  <a:srgbClr val="163B42"/>
                </a:solidFill>
                <a:latin typeface="Aileron Light"/>
                <a:ea typeface="Aileron Light"/>
                <a:cs typeface="Aileron Light"/>
                <a:sym typeface="Aileron Light"/>
              </a:rPr>
              <a:t>Julho, 2026</a:t>
            </a:r>
          </a:p>
        </p:txBody>
      </p:sp>
      <p:sp>
        <p:nvSpPr>
          <p:cNvPr name="Freeform 13" id="13"/>
          <p:cNvSpPr/>
          <p:nvPr/>
        </p:nvSpPr>
        <p:spPr>
          <a:xfrm flipH="false" flipV="false" rot="0">
            <a:off x="319065" y="553465"/>
            <a:ext cx="385450" cy="478549"/>
          </a:xfrm>
          <a:custGeom>
            <a:avLst/>
            <a:gdLst/>
            <a:ahLst/>
            <a:cxnLst/>
            <a:rect r="r" b="b" t="t" l="l"/>
            <a:pathLst>
              <a:path h="478549" w="385450">
                <a:moveTo>
                  <a:pt x="0" y="0"/>
                </a:moveTo>
                <a:lnTo>
                  <a:pt x="385449" y="0"/>
                </a:lnTo>
                <a:lnTo>
                  <a:pt x="385449" y="478549"/>
                </a:lnTo>
                <a:lnTo>
                  <a:pt x="0" y="478549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949240" y="693680"/>
            <a:ext cx="3558715" cy="2647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1979"/>
              </a:lnSpc>
              <a:spcBef>
                <a:spcPct val="0"/>
              </a:spcBef>
            </a:pPr>
            <a:r>
              <a:rPr lang="en-US" b="true" sz="2199">
                <a:solidFill>
                  <a:srgbClr val="377272"/>
                </a:solidFill>
                <a:latin typeface="Aileron Bold"/>
                <a:ea typeface="Aileron Bold"/>
                <a:cs typeface="Aileron Bold"/>
                <a:sym typeface="Aileron Bold"/>
              </a:rPr>
              <a:t>PVD Mercado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FF0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468035" y="1621219"/>
            <a:ext cx="9590904" cy="13558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9913"/>
              </a:lnSpc>
            </a:pPr>
            <a:r>
              <a:rPr lang="en-US" b="true" sz="10775" spc="-140">
                <a:solidFill>
                  <a:srgbClr val="377272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Problemas</a:t>
            </a:r>
          </a:p>
        </p:txBody>
      </p:sp>
      <p:sp>
        <p:nvSpPr>
          <p:cNvPr name="Freeform 3" id="3"/>
          <p:cNvSpPr/>
          <p:nvPr/>
        </p:nvSpPr>
        <p:spPr>
          <a:xfrm flipH="false" flipV="false" rot="-5924175">
            <a:off x="8403106" y="-3524367"/>
            <a:ext cx="10874201" cy="11373798"/>
          </a:xfrm>
          <a:custGeom>
            <a:avLst/>
            <a:gdLst/>
            <a:ahLst/>
            <a:cxnLst/>
            <a:rect r="r" b="b" t="t" l="l"/>
            <a:pathLst>
              <a:path h="11373798" w="10874201">
                <a:moveTo>
                  <a:pt x="0" y="0"/>
                </a:moveTo>
                <a:lnTo>
                  <a:pt x="10874201" y="0"/>
                </a:lnTo>
                <a:lnTo>
                  <a:pt x="10874201" y="11373798"/>
                </a:lnTo>
                <a:lnTo>
                  <a:pt x="0" y="1137379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9083533">
            <a:off x="-4457549" y="-2913361"/>
            <a:ext cx="9368655" cy="9799083"/>
          </a:xfrm>
          <a:custGeom>
            <a:avLst/>
            <a:gdLst/>
            <a:ahLst/>
            <a:cxnLst/>
            <a:rect r="r" b="b" t="t" l="l"/>
            <a:pathLst>
              <a:path h="9799083" w="9368655">
                <a:moveTo>
                  <a:pt x="0" y="0"/>
                </a:moveTo>
                <a:lnTo>
                  <a:pt x="9368655" y="0"/>
                </a:lnTo>
                <a:lnTo>
                  <a:pt x="9368655" y="9799083"/>
                </a:lnTo>
                <a:lnTo>
                  <a:pt x="0" y="979908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468035" y="3431043"/>
            <a:ext cx="7033919" cy="3447897"/>
            <a:chOff x="0" y="0"/>
            <a:chExt cx="1977112" cy="969144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977112" cy="969144"/>
            </a:xfrm>
            <a:custGeom>
              <a:avLst/>
              <a:gdLst/>
              <a:ahLst/>
              <a:cxnLst/>
              <a:rect r="r" b="b" t="t" l="l"/>
              <a:pathLst>
                <a:path h="969144" w="1977112">
                  <a:moveTo>
                    <a:pt x="33020" y="0"/>
                  </a:moveTo>
                  <a:lnTo>
                    <a:pt x="1944092" y="0"/>
                  </a:lnTo>
                  <a:cubicBezTo>
                    <a:pt x="1962329" y="0"/>
                    <a:pt x="1977112" y="14783"/>
                    <a:pt x="1977112" y="33020"/>
                  </a:cubicBezTo>
                  <a:lnTo>
                    <a:pt x="1977112" y="936124"/>
                  </a:lnTo>
                  <a:cubicBezTo>
                    <a:pt x="1977112" y="954360"/>
                    <a:pt x="1962329" y="969144"/>
                    <a:pt x="1944092" y="969144"/>
                  </a:cubicBezTo>
                  <a:lnTo>
                    <a:pt x="33020" y="969144"/>
                  </a:lnTo>
                  <a:cubicBezTo>
                    <a:pt x="14783" y="969144"/>
                    <a:pt x="0" y="954360"/>
                    <a:pt x="0" y="936124"/>
                  </a:cubicBezTo>
                  <a:lnTo>
                    <a:pt x="0" y="33020"/>
                  </a:lnTo>
                  <a:cubicBezTo>
                    <a:pt x="0" y="14783"/>
                    <a:pt x="14783" y="0"/>
                    <a:pt x="33020" y="0"/>
                  </a:cubicBezTo>
                  <a:close/>
                </a:path>
              </a:pathLst>
            </a:custGeom>
            <a:ln w="19050" cap="rnd">
              <a:gradFill>
                <a:gsLst>
                  <a:gs pos="0">
                    <a:srgbClr val="3B6261">
                      <a:alpha val="100000"/>
                    </a:srgbClr>
                  </a:gs>
                  <a:gs pos="100000">
                    <a:srgbClr val="6F9F97">
                      <a:alpha val="100000"/>
                    </a:srgbClr>
                  </a:gs>
                </a:gsLst>
                <a:lin ang="0"/>
              </a:gradFill>
              <a:prstDash val="solid"/>
              <a:round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1977112" cy="100724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848021" y="3676633"/>
            <a:ext cx="6273947" cy="29051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647122" indent="-323561" lvl="1">
              <a:lnSpc>
                <a:spcPts val="3896"/>
              </a:lnSpc>
              <a:buAutoNum type="arabicPeriod" startAt="1"/>
            </a:pPr>
            <a:r>
              <a:rPr lang="en-US" sz="2997">
                <a:solidFill>
                  <a:srgbClr val="2E6D6D"/>
                </a:solidFill>
                <a:latin typeface="Aileron"/>
                <a:ea typeface="Aileron"/>
                <a:cs typeface="Aileron"/>
                <a:sym typeface="Aileron"/>
              </a:rPr>
              <a:t>Lentidão no atendimento</a:t>
            </a:r>
          </a:p>
          <a:p>
            <a:pPr algn="just" marL="647122" indent="-323561" lvl="1">
              <a:lnSpc>
                <a:spcPts val="3896"/>
              </a:lnSpc>
              <a:buAutoNum type="arabicPeriod" startAt="1"/>
            </a:pPr>
            <a:r>
              <a:rPr lang="en-US" sz="2997">
                <a:solidFill>
                  <a:srgbClr val="2E6D6D"/>
                </a:solidFill>
                <a:latin typeface="Aileron"/>
                <a:ea typeface="Aileron"/>
                <a:cs typeface="Aileron"/>
                <a:sym typeface="Aileron"/>
              </a:rPr>
              <a:t>Erros no atendimento de caixa</a:t>
            </a:r>
          </a:p>
          <a:p>
            <a:pPr algn="just" marL="647122" indent="-323561" lvl="1">
              <a:lnSpc>
                <a:spcPts val="3896"/>
              </a:lnSpc>
              <a:buAutoNum type="arabicPeriod" startAt="1"/>
            </a:pPr>
            <a:r>
              <a:rPr lang="en-US" sz="2997">
                <a:solidFill>
                  <a:srgbClr val="2E6D6D"/>
                </a:solidFill>
                <a:latin typeface="Aileron"/>
                <a:ea typeface="Aileron"/>
                <a:cs typeface="Aileron"/>
                <a:sym typeface="Aileron"/>
              </a:rPr>
              <a:t>Descontrole do estoque</a:t>
            </a:r>
          </a:p>
          <a:p>
            <a:pPr algn="just" marL="647122" indent="-323561" lvl="1">
              <a:lnSpc>
                <a:spcPts val="3896"/>
              </a:lnSpc>
              <a:buAutoNum type="arabicPeriod" startAt="1"/>
            </a:pPr>
            <a:r>
              <a:rPr lang="en-US" sz="2997">
                <a:solidFill>
                  <a:srgbClr val="2E6D6D"/>
                </a:solidFill>
                <a:latin typeface="Aileron"/>
                <a:ea typeface="Aileron"/>
                <a:cs typeface="Aileron"/>
                <a:sym typeface="Aileron"/>
              </a:rPr>
              <a:t>Falta de visibilidade financeira</a:t>
            </a:r>
          </a:p>
          <a:p>
            <a:pPr algn="just" marL="647122" indent="-323561" lvl="1">
              <a:lnSpc>
                <a:spcPts val="3896"/>
              </a:lnSpc>
              <a:buAutoNum type="arabicPeriod" startAt="1"/>
            </a:pPr>
            <a:r>
              <a:rPr lang="en-US" sz="2997">
                <a:solidFill>
                  <a:srgbClr val="2E6D6D"/>
                </a:solidFill>
                <a:latin typeface="Aileron"/>
                <a:ea typeface="Aileron"/>
                <a:cs typeface="Aileron"/>
                <a:sym typeface="Aileron"/>
              </a:rPr>
              <a:t>Falta de s</a:t>
            </a:r>
            <a:r>
              <a:rPr lang="en-US" sz="2997">
                <a:solidFill>
                  <a:srgbClr val="2E6D6D"/>
                </a:solidFill>
                <a:latin typeface="Aileron"/>
                <a:ea typeface="Aileron"/>
                <a:cs typeface="Aileron"/>
                <a:sym typeface="Aileron"/>
              </a:rPr>
              <a:t>egurança nos dados da empresa</a:t>
            </a:r>
          </a:p>
        </p:txBody>
      </p:sp>
      <p:sp>
        <p:nvSpPr>
          <p:cNvPr name="Freeform 9" id="9"/>
          <p:cNvSpPr/>
          <p:nvPr/>
        </p:nvSpPr>
        <p:spPr>
          <a:xfrm flipH="false" flipV="false" rot="0">
            <a:off x="1028700" y="553465"/>
            <a:ext cx="385450" cy="478549"/>
          </a:xfrm>
          <a:custGeom>
            <a:avLst/>
            <a:gdLst/>
            <a:ahLst/>
            <a:cxnLst/>
            <a:rect r="r" b="b" t="t" l="l"/>
            <a:pathLst>
              <a:path h="478549" w="385450">
                <a:moveTo>
                  <a:pt x="0" y="0"/>
                </a:moveTo>
                <a:lnTo>
                  <a:pt x="385450" y="0"/>
                </a:lnTo>
                <a:lnTo>
                  <a:pt x="385450" y="478549"/>
                </a:lnTo>
                <a:lnTo>
                  <a:pt x="0" y="47854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1658876" y="721916"/>
            <a:ext cx="3558715" cy="2647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1979"/>
              </a:lnSpc>
              <a:spcBef>
                <a:spcPct val="0"/>
              </a:spcBef>
            </a:pPr>
            <a:r>
              <a:rPr lang="en-US" b="true" sz="2199">
                <a:solidFill>
                  <a:srgbClr val="377272"/>
                </a:solidFill>
                <a:latin typeface="Aileron Bold"/>
                <a:ea typeface="Aileron Bold"/>
                <a:cs typeface="Aileron Bold"/>
                <a:sym typeface="Aileron Bold"/>
              </a:rPr>
              <a:t>PVD Mercado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9483384" y="5189130"/>
            <a:ext cx="8318396" cy="11761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598"/>
              </a:lnSpc>
            </a:pPr>
            <a:r>
              <a:rPr lang="en-US" b="true" sz="9345" spc="-121">
                <a:solidFill>
                  <a:srgbClr val="377272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Público-Alvo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8882806" y="6698113"/>
            <a:ext cx="8798424" cy="2954552"/>
            <a:chOff x="0" y="0"/>
            <a:chExt cx="2473083" cy="830473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473084" cy="830473"/>
            </a:xfrm>
            <a:custGeom>
              <a:avLst/>
              <a:gdLst/>
              <a:ahLst/>
              <a:cxnLst/>
              <a:rect r="r" b="b" t="t" l="l"/>
              <a:pathLst>
                <a:path h="830473" w="2473084">
                  <a:moveTo>
                    <a:pt x="26398" y="0"/>
                  </a:moveTo>
                  <a:lnTo>
                    <a:pt x="2446686" y="0"/>
                  </a:lnTo>
                  <a:cubicBezTo>
                    <a:pt x="2453687" y="0"/>
                    <a:pt x="2460401" y="2781"/>
                    <a:pt x="2465352" y="7732"/>
                  </a:cubicBezTo>
                  <a:cubicBezTo>
                    <a:pt x="2470302" y="12682"/>
                    <a:pt x="2473084" y="19397"/>
                    <a:pt x="2473084" y="26398"/>
                  </a:cubicBezTo>
                  <a:lnTo>
                    <a:pt x="2473084" y="804075"/>
                  </a:lnTo>
                  <a:cubicBezTo>
                    <a:pt x="2473084" y="818654"/>
                    <a:pt x="2461265" y="830473"/>
                    <a:pt x="2446686" y="830473"/>
                  </a:cubicBezTo>
                  <a:lnTo>
                    <a:pt x="26398" y="830473"/>
                  </a:lnTo>
                  <a:cubicBezTo>
                    <a:pt x="11819" y="830473"/>
                    <a:pt x="0" y="818654"/>
                    <a:pt x="0" y="804075"/>
                  </a:cubicBezTo>
                  <a:lnTo>
                    <a:pt x="0" y="26398"/>
                  </a:lnTo>
                  <a:cubicBezTo>
                    <a:pt x="0" y="11819"/>
                    <a:pt x="11819" y="0"/>
                    <a:pt x="26398" y="0"/>
                  </a:cubicBezTo>
                  <a:close/>
                </a:path>
              </a:pathLst>
            </a:custGeom>
            <a:ln w="19050" cap="rnd">
              <a:gradFill>
                <a:gsLst>
                  <a:gs pos="0">
                    <a:srgbClr val="3B6261">
                      <a:alpha val="100000"/>
                    </a:srgbClr>
                  </a:gs>
                  <a:gs pos="100000">
                    <a:srgbClr val="6F9F97">
                      <a:alpha val="100000"/>
                    </a:srgbClr>
                  </a:gs>
                </a:gsLst>
                <a:lin ang="0"/>
              </a:gradFill>
              <a:prstDash val="solid"/>
              <a:round/>
            </a:ln>
          </p:spPr>
        </p:sp>
        <p:sp>
          <p:nvSpPr>
            <p:cNvPr name="TextBox 14" id="14"/>
            <p:cNvSpPr txBox="true"/>
            <p:nvPr/>
          </p:nvSpPr>
          <p:spPr>
            <a:xfrm>
              <a:off x="0" y="-38100"/>
              <a:ext cx="2473083" cy="86857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15" id="15"/>
          <p:cNvSpPr txBox="true"/>
          <p:nvPr/>
        </p:nvSpPr>
        <p:spPr>
          <a:xfrm rot="0">
            <a:off x="9223279" y="6969449"/>
            <a:ext cx="8117478" cy="22888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608"/>
              </a:lnSpc>
            </a:pPr>
            <a:r>
              <a:rPr lang="en-US" sz="2775">
                <a:solidFill>
                  <a:srgbClr val="2E6D6D"/>
                </a:solidFill>
                <a:latin typeface="Aileron"/>
                <a:ea typeface="Aileron"/>
                <a:cs typeface="Aileron"/>
                <a:sym typeface="Aileron"/>
              </a:rPr>
              <a:t>Pequenos comerciantes e microempreendedores que precisam de um sistema coringa, pronto para uso, sem depender de soluções caras ou da contratação de um técnico para desenvolver um sistema personalizado.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FF0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5916891">
            <a:off x="14077794" y="1904754"/>
            <a:ext cx="5281054" cy="5988824"/>
          </a:xfrm>
          <a:custGeom>
            <a:avLst/>
            <a:gdLst/>
            <a:ahLst/>
            <a:cxnLst/>
            <a:rect r="r" b="b" t="t" l="l"/>
            <a:pathLst>
              <a:path h="5988824" w="5281054">
                <a:moveTo>
                  <a:pt x="0" y="0"/>
                </a:moveTo>
                <a:lnTo>
                  <a:pt x="5281053" y="0"/>
                </a:lnTo>
                <a:lnTo>
                  <a:pt x="5281053" y="5988823"/>
                </a:lnTo>
                <a:lnTo>
                  <a:pt x="0" y="598882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357248" y="5316805"/>
            <a:ext cx="14888871" cy="4368015"/>
            <a:chOff x="0" y="0"/>
            <a:chExt cx="3563543" cy="1045453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3563543" cy="1045453"/>
            </a:xfrm>
            <a:custGeom>
              <a:avLst/>
              <a:gdLst/>
              <a:ahLst/>
              <a:cxnLst/>
              <a:rect r="r" b="b" t="t" l="l"/>
              <a:pathLst>
                <a:path h="1045453" w="3563543">
                  <a:moveTo>
                    <a:pt x="15599" y="0"/>
                  </a:moveTo>
                  <a:lnTo>
                    <a:pt x="3547944" y="0"/>
                  </a:lnTo>
                  <a:cubicBezTo>
                    <a:pt x="3556559" y="0"/>
                    <a:pt x="3563543" y="6984"/>
                    <a:pt x="3563543" y="15599"/>
                  </a:cubicBezTo>
                  <a:lnTo>
                    <a:pt x="3563543" y="1029853"/>
                  </a:lnTo>
                  <a:cubicBezTo>
                    <a:pt x="3563543" y="1038469"/>
                    <a:pt x="3556559" y="1045453"/>
                    <a:pt x="3547944" y="1045453"/>
                  </a:cubicBezTo>
                  <a:lnTo>
                    <a:pt x="15599" y="1045453"/>
                  </a:lnTo>
                  <a:cubicBezTo>
                    <a:pt x="11462" y="1045453"/>
                    <a:pt x="7494" y="1043809"/>
                    <a:pt x="4569" y="1040884"/>
                  </a:cubicBezTo>
                  <a:cubicBezTo>
                    <a:pt x="1644" y="1037958"/>
                    <a:pt x="0" y="1033991"/>
                    <a:pt x="0" y="1029853"/>
                  </a:cubicBezTo>
                  <a:lnTo>
                    <a:pt x="0" y="15599"/>
                  </a:lnTo>
                  <a:cubicBezTo>
                    <a:pt x="0" y="11462"/>
                    <a:pt x="1644" y="7494"/>
                    <a:pt x="4569" y="4569"/>
                  </a:cubicBezTo>
                  <a:cubicBezTo>
                    <a:pt x="7494" y="1644"/>
                    <a:pt x="11462" y="0"/>
                    <a:pt x="15599" y="0"/>
                  </a:cubicBezTo>
                  <a:close/>
                </a:path>
              </a:pathLst>
            </a:custGeom>
            <a:solidFill>
              <a:srgbClr val="EFF0EA"/>
            </a:solidFill>
            <a:ln w="19050" cap="rnd">
              <a:gradFill>
                <a:gsLst>
                  <a:gs pos="0">
                    <a:srgbClr val="3B6261">
                      <a:alpha val="100000"/>
                    </a:srgbClr>
                  </a:gs>
                  <a:gs pos="100000">
                    <a:srgbClr val="6F9F97">
                      <a:alpha val="100000"/>
                    </a:srgbClr>
                  </a:gs>
                </a:gsLst>
                <a:lin ang="0"/>
              </a:gradFill>
              <a:prstDash val="solid"/>
              <a:round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3563543" cy="108355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1927387" y="5699874"/>
            <a:ext cx="14318732" cy="4554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01"/>
              </a:lnSpc>
            </a:pPr>
            <a:r>
              <a:rPr lang="en-US" sz="3301" spc="-165" b="true">
                <a:solidFill>
                  <a:srgbClr val="2E6D6D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Criar um sistema Integrado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2383686" y="6403005"/>
            <a:ext cx="12835995" cy="2476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900"/>
              </a:lnSpc>
            </a:pPr>
            <a:r>
              <a:rPr lang="en-US" sz="3000" spc="-21">
                <a:solidFill>
                  <a:srgbClr val="377272"/>
                </a:solidFill>
                <a:latin typeface="Aileron"/>
                <a:ea typeface="Aileron"/>
                <a:cs typeface="Aileron"/>
                <a:sym typeface="Aileron"/>
              </a:rPr>
              <a:t>Criar um sistema único de ponto de venda, com dois níveis de acesso (Gerente e Operador de Caixa), cada um com permissões específicas definidas no login, separando as funções administrativas (produtos, estoque e relatório de vendas) das funções operacionais de caixa (venda, carrinho e pagamento).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221425" y="1946831"/>
            <a:ext cx="15160518" cy="27901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580"/>
              </a:lnSpc>
            </a:pPr>
            <a:r>
              <a:rPr lang="en-US" sz="11500" spc="-149" b="true">
                <a:solidFill>
                  <a:srgbClr val="377272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Solução </a:t>
            </a:r>
          </a:p>
          <a:p>
            <a:pPr algn="l" marL="0" indent="0" lvl="0">
              <a:lnSpc>
                <a:spcPts val="10580"/>
              </a:lnSpc>
            </a:pPr>
            <a:r>
              <a:rPr lang="en-US" b="true" sz="11500" spc="-149">
                <a:solidFill>
                  <a:srgbClr val="377272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encontrada: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4703045" y="1060589"/>
            <a:ext cx="2556255" cy="3002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375"/>
              </a:lnSpc>
            </a:pPr>
            <a:r>
              <a:rPr lang="en-US" sz="2199" spc="-15">
                <a:solidFill>
                  <a:srgbClr val="163B42"/>
                </a:solidFill>
                <a:latin typeface="Aileron Light"/>
                <a:ea typeface="Aileron Light"/>
                <a:cs typeface="Aileron Light"/>
                <a:sym typeface="Aileron Light"/>
              </a:rPr>
              <a:t>Julho, 2026</a:t>
            </a:r>
          </a:p>
        </p:txBody>
      </p:sp>
      <p:sp>
        <p:nvSpPr>
          <p:cNvPr name="Freeform 10" id="10"/>
          <p:cNvSpPr/>
          <p:nvPr/>
        </p:nvSpPr>
        <p:spPr>
          <a:xfrm flipH="false" flipV="false" rot="0">
            <a:off x="1028700" y="958474"/>
            <a:ext cx="385450" cy="478549"/>
          </a:xfrm>
          <a:custGeom>
            <a:avLst/>
            <a:gdLst/>
            <a:ahLst/>
            <a:cxnLst/>
            <a:rect r="r" b="b" t="t" l="l"/>
            <a:pathLst>
              <a:path h="478549" w="385450">
                <a:moveTo>
                  <a:pt x="0" y="0"/>
                </a:moveTo>
                <a:lnTo>
                  <a:pt x="385450" y="0"/>
                </a:lnTo>
                <a:lnTo>
                  <a:pt x="385450" y="478549"/>
                </a:lnTo>
                <a:lnTo>
                  <a:pt x="0" y="47854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1658876" y="1098689"/>
            <a:ext cx="3558715" cy="2647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1979"/>
              </a:lnSpc>
              <a:spcBef>
                <a:spcPct val="0"/>
              </a:spcBef>
            </a:pPr>
            <a:r>
              <a:rPr lang="en-US" b="true" sz="2199">
                <a:solidFill>
                  <a:srgbClr val="377272"/>
                </a:solidFill>
                <a:latin typeface="Aileron Bold"/>
                <a:ea typeface="Aileron Bold"/>
                <a:cs typeface="Aileron Bold"/>
                <a:sym typeface="Aileron Bold"/>
              </a:rPr>
              <a:t>PVD Mercado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FF0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701269" y="5401815"/>
            <a:ext cx="5005448" cy="4128236"/>
            <a:chOff x="0" y="0"/>
            <a:chExt cx="1267602" cy="104545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267602" cy="1045453"/>
            </a:xfrm>
            <a:custGeom>
              <a:avLst/>
              <a:gdLst/>
              <a:ahLst/>
              <a:cxnLst/>
              <a:rect r="r" b="b" t="t" l="l"/>
              <a:pathLst>
                <a:path h="1045453" w="1267602">
                  <a:moveTo>
                    <a:pt x="46401" y="0"/>
                  </a:moveTo>
                  <a:lnTo>
                    <a:pt x="1221201" y="0"/>
                  </a:lnTo>
                  <a:cubicBezTo>
                    <a:pt x="1233507" y="0"/>
                    <a:pt x="1245309" y="4889"/>
                    <a:pt x="1254011" y="13591"/>
                  </a:cubicBezTo>
                  <a:cubicBezTo>
                    <a:pt x="1262713" y="22292"/>
                    <a:pt x="1267602" y="34095"/>
                    <a:pt x="1267602" y="46401"/>
                  </a:cubicBezTo>
                  <a:lnTo>
                    <a:pt x="1267602" y="999052"/>
                  </a:lnTo>
                  <a:cubicBezTo>
                    <a:pt x="1267602" y="1024678"/>
                    <a:pt x="1246827" y="1045453"/>
                    <a:pt x="1221201" y="1045453"/>
                  </a:cubicBezTo>
                  <a:lnTo>
                    <a:pt x="46401" y="1045453"/>
                  </a:lnTo>
                  <a:cubicBezTo>
                    <a:pt x="34095" y="1045453"/>
                    <a:pt x="22292" y="1040564"/>
                    <a:pt x="13591" y="1031862"/>
                  </a:cubicBezTo>
                  <a:cubicBezTo>
                    <a:pt x="4889" y="1023160"/>
                    <a:pt x="0" y="1011358"/>
                    <a:pt x="0" y="999052"/>
                  </a:cubicBezTo>
                  <a:lnTo>
                    <a:pt x="0" y="46401"/>
                  </a:lnTo>
                  <a:cubicBezTo>
                    <a:pt x="0" y="34095"/>
                    <a:pt x="4889" y="22292"/>
                    <a:pt x="13591" y="13591"/>
                  </a:cubicBezTo>
                  <a:cubicBezTo>
                    <a:pt x="22292" y="4889"/>
                    <a:pt x="34095" y="0"/>
                    <a:pt x="46401" y="0"/>
                  </a:cubicBezTo>
                  <a:close/>
                </a:path>
              </a:pathLst>
            </a:custGeom>
            <a:solidFill>
              <a:srgbClr val="EFF0EA"/>
            </a:solidFill>
            <a:ln w="19050" cap="rnd">
              <a:gradFill>
                <a:gsLst>
                  <a:gs pos="0">
                    <a:srgbClr val="3B6261">
                      <a:alpha val="100000"/>
                    </a:srgbClr>
                  </a:gs>
                  <a:gs pos="100000">
                    <a:srgbClr val="6F9F97">
                      <a:alpha val="100000"/>
                    </a:srgbClr>
                  </a:gs>
                </a:gsLst>
                <a:lin ang="0"/>
              </a:gradFill>
              <a:prstDash val="solid"/>
              <a:round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1267602" cy="108355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just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6641276" y="5401815"/>
            <a:ext cx="5005448" cy="4128236"/>
            <a:chOff x="0" y="0"/>
            <a:chExt cx="1267602" cy="1045453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267602" cy="1045453"/>
            </a:xfrm>
            <a:custGeom>
              <a:avLst/>
              <a:gdLst/>
              <a:ahLst/>
              <a:cxnLst/>
              <a:rect r="r" b="b" t="t" l="l"/>
              <a:pathLst>
                <a:path h="1045453" w="1267602">
                  <a:moveTo>
                    <a:pt x="46401" y="0"/>
                  </a:moveTo>
                  <a:lnTo>
                    <a:pt x="1221201" y="0"/>
                  </a:lnTo>
                  <a:cubicBezTo>
                    <a:pt x="1233507" y="0"/>
                    <a:pt x="1245309" y="4889"/>
                    <a:pt x="1254011" y="13591"/>
                  </a:cubicBezTo>
                  <a:cubicBezTo>
                    <a:pt x="1262713" y="22292"/>
                    <a:pt x="1267602" y="34095"/>
                    <a:pt x="1267602" y="46401"/>
                  </a:cubicBezTo>
                  <a:lnTo>
                    <a:pt x="1267602" y="999052"/>
                  </a:lnTo>
                  <a:cubicBezTo>
                    <a:pt x="1267602" y="1024678"/>
                    <a:pt x="1246827" y="1045453"/>
                    <a:pt x="1221201" y="1045453"/>
                  </a:cubicBezTo>
                  <a:lnTo>
                    <a:pt x="46401" y="1045453"/>
                  </a:lnTo>
                  <a:cubicBezTo>
                    <a:pt x="34095" y="1045453"/>
                    <a:pt x="22292" y="1040564"/>
                    <a:pt x="13591" y="1031862"/>
                  </a:cubicBezTo>
                  <a:cubicBezTo>
                    <a:pt x="4889" y="1023160"/>
                    <a:pt x="0" y="1011358"/>
                    <a:pt x="0" y="999052"/>
                  </a:cubicBezTo>
                  <a:lnTo>
                    <a:pt x="0" y="46401"/>
                  </a:lnTo>
                  <a:cubicBezTo>
                    <a:pt x="0" y="34095"/>
                    <a:pt x="4889" y="22292"/>
                    <a:pt x="13591" y="13591"/>
                  </a:cubicBezTo>
                  <a:cubicBezTo>
                    <a:pt x="22292" y="4889"/>
                    <a:pt x="34095" y="0"/>
                    <a:pt x="46401" y="0"/>
                  </a:cubicBezTo>
                  <a:close/>
                </a:path>
              </a:pathLst>
            </a:custGeom>
            <a:solidFill>
              <a:srgbClr val="EFF0EA"/>
            </a:solidFill>
            <a:ln w="19050" cap="rnd">
              <a:gradFill>
                <a:gsLst>
                  <a:gs pos="0">
                    <a:srgbClr val="3B6261">
                      <a:alpha val="100000"/>
                    </a:srgbClr>
                  </a:gs>
                  <a:gs pos="100000">
                    <a:srgbClr val="6F9F97">
                      <a:alpha val="100000"/>
                    </a:srgbClr>
                  </a:gs>
                </a:gsLst>
                <a:lin ang="0"/>
              </a:gradFill>
              <a:prstDash val="solid"/>
              <a:round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1267602" cy="108355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just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-5916891">
            <a:off x="14507880" y="-651870"/>
            <a:ext cx="5281054" cy="5988824"/>
          </a:xfrm>
          <a:custGeom>
            <a:avLst/>
            <a:gdLst/>
            <a:ahLst/>
            <a:cxnLst/>
            <a:rect r="r" b="b" t="t" l="l"/>
            <a:pathLst>
              <a:path h="5988824" w="5281054">
                <a:moveTo>
                  <a:pt x="0" y="0"/>
                </a:moveTo>
                <a:lnTo>
                  <a:pt x="5281053" y="0"/>
                </a:lnTo>
                <a:lnTo>
                  <a:pt x="5281053" y="5988823"/>
                </a:lnTo>
                <a:lnTo>
                  <a:pt x="0" y="598882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9" id="9"/>
          <p:cNvGrpSpPr/>
          <p:nvPr/>
        </p:nvGrpSpPr>
        <p:grpSpPr>
          <a:xfrm rot="0">
            <a:off x="12614667" y="5401815"/>
            <a:ext cx="4977312" cy="4128236"/>
            <a:chOff x="0" y="0"/>
            <a:chExt cx="1260476" cy="1045453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260476" cy="1045453"/>
            </a:xfrm>
            <a:custGeom>
              <a:avLst/>
              <a:gdLst/>
              <a:ahLst/>
              <a:cxnLst/>
              <a:rect r="r" b="b" t="t" l="l"/>
              <a:pathLst>
                <a:path h="1045453" w="1260476">
                  <a:moveTo>
                    <a:pt x="46663" y="0"/>
                  </a:moveTo>
                  <a:lnTo>
                    <a:pt x="1213813" y="0"/>
                  </a:lnTo>
                  <a:cubicBezTo>
                    <a:pt x="1226189" y="0"/>
                    <a:pt x="1238058" y="4916"/>
                    <a:pt x="1246809" y="13667"/>
                  </a:cubicBezTo>
                  <a:cubicBezTo>
                    <a:pt x="1255560" y="22418"/>
                    <a:pt x="1260476" y="34287"/>
                    <a:pt x="1260476" y="46663"/>
                  </a:cubicBezTo>
                  <a:lnTo>
                    <a:pt x="1260476" y="998790"/>
                  </a:lnTo>
                  <a:cubicBezTo>
                    <a:pt x="1260476" y="1011165"/>
                    <a:pt x="1255560" y="1023034"/>
                    <a:pt x="1246809" y="1031785"/>
                  </a:cubicBezTo>
                  <a:cubicBezTo>
                    <a:pt x="1238058" y="1040537"/>
                    <a:pt x="1226189" y="1045453"/>
                    <a:pt x="1213813" y="1045453"/>
                  </a:cubicBezTo>
                  <a:lnTo>
                    <a:pt x="46663" y="1045453"/>
                  </a:lnTo>
                  <a:cubicBezTo>
                    <a:pt x="34287" y="1045453"/>
                    <a:pt x="22418" y="1040537"/>
                    <a:pt x="13667" y="1031785"/>
                  </a:cubicBezTo>
                  <a:cubicBezTo>
                    <a:pt x="4916" y="1023034"/>
                    <a:pt x="0" y="1011165"/>
                    <a:pt x="0" y="998790"/>
                  </a:cubicBezTo>
                  <a:lnTo>
                    <a:pt x="0" y="46663"/>
                  </a:lnTo>
                  <a:cubicBezTo>
                    <a:pt x="0" y="34287"/>
                    <a:pt x="4916" y="22418"/>
                    <a:pt x="13667" y="13667"/>
                  </a:cubicBezTo>
                  <a:cubicBezTo>
                    <a:pt x="22418" y="4916"/>
                    <a:pt x="34287" y="0"/>
                    <a:pt x="46663" y="0"/>
                  </a:cubicBezTo>
                  <a:close/>
                </a:path>
              </a:pathLst>
            </a:custGeom>
            <a:solidFill>
              <a:srgbClr val="EFF0EA"/>
            </a:solidFill>
            <a:ln w="19050" cap="rnd">
              <a:gradFill>
                <a:gsLst>
                  <a:gs pos="0">
                    <a:srgbClr val="3B6261">
                      <a:alpha val="100000"/>
                    </a:srgbClr>
                  </a:gs>
                  <a:gs pos="100000">
                    <a:srgbClr val="6F9F97">
                      <a:alpha val="100000"/>
                    </a:srgbClr>
                  </a:gs>
                </a:gsLst>
                <a:lin ang="0"/>
              </a:gradFill>
              <a:prstDash val="solid"/>
              <a:round/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0" y="-38100"/>
              <a:ext cx="1260476" cy="108355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just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12" id="12"/>
          <p:cNvSpPr txBox="true"/>
          <p:nvPr/>
        </p:nvSpPr>
        <p:spPr>
          <a:xfrm rot="0">
            <a:off x="1368870" y="5804097"/>
            <a:ext cx="3631614" cy="4183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20"/>
              </a:lnSpc>
            </a:pPr>
            <a:r>
              <a:rPr lang="en-US" b="true" sz="3120" spc="-156">
                <a:solidFill>
                  <a:srgbClr val="2E6D6D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Operador de Caixa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7148798" y="5804097"/>
            <a:ext cx="3981966" cy="4183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20"/>
              </a:lnSpc>
            </a:pPr>
            <a:r>
              <a:rPr lang="en-US" b="true" sz="3120" spc="-156">
                <a:solidFill>
                  <a:srgbClr val="2E6D6D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Gerente da loja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4213820" y="5804097"/>
            <a:ext cx="1738435" cy="4183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20"/>
              </a:lnSpc>
            </a:pPr>
            <a:r>
              <a:rPr lang="en-US" b="true" sz="3120" spc="-156">
                <a:solidFill>
                  <a:srgbClr val="2E6D6D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O cliente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892433" y="6561216"/>
            <a:ext cx="4623121" cy="26231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510"/>
              </a:lnSpc>
            </a:pPr>
            <a:r>
              <a:rPr lang="en-US" sz="2700" spc="-18">
                <a:solidFill>
                  <a:srgbClr val="377272"/>
                </a:solidFill>
                <a:latin typeface="Aileron"/>
                <a:ea typeface="Aileron"/>
                <a:cs typeface="Aileron"/>
                <a:sym typeface="Aileron"/>
              </a:rPr>
              <a:t>Inte</a:t>
            </a:r>
            <a:r>
              <a:rPr lang="en-US" sz="2700" spc="-18">
                <a:solidFill>
                  <a:srgbClr val="377272"/>
                </a:solidFill>
                <a:latin typeface="Aileron"/>
                <a:ea typeface="Aileron"/>
                <a:cs typeface="Aileron"/>
                <a:sym typeface="Aileron"/>
              </a:rPr>
              <a:t>rface simples e direta para passar produtos e registrar pagamentos rapidamente, sem precisar fazer cálculos complexos ou se preocupar </a:t>
            </a:r>
          </a:p>
          <a:p>
            <a:pPr algn="just">
              <a:lnSpc>
                <a:spcPts val="3510"/>
              </a:lnSpc>
            </a:pPr>
            <a:r>
              <a:rPr lang="en-US" sz="2700" spc="-18">
                <a:solidFill>
                  <a:srgbClr val="377272"/>
                </a:solidFill>
                <a:latin typeface="Aileron"/>
                <a:ea typeface="Aileron"/>
                <a:cs typeface="Aileron"/>
                <a:sym typeface="Aileron"/>
              </a:rPr>
              <a:t>com travamentos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6915099" y="6371735"/>
            <a:ext cx="4449364" cy="26232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504"/>
              </a:lnSpc>
            </a:pPr>
            <a:r>
              <a:rPr lang="en-US" sz="2695" spc="-18">
                <a:solidFill>
                  <a:srgbClr val="377272"/>
                </a:solidFill>
                <a:latin typeface="Aileron"/>
                <a:ea typeface="Aileron"/>
                <a:cs typeface="Aileron"/>
                <a:sym typeface="Aileron"/>
              </a:rPr>
              <a:t>C</a:t>
            </a:r>
            <a:r>
              <a:rPr lang="en-US" sz="2695" spc="-18">
                <a:solidFill>
                  <a:srgbClr val="377272"/>
                </a:solidFill>
                <a:latin typeface="Aileron"/>
                <a:ea typeface="Aileron"/>
                <a:cs typeface="Aileron"/>
                <a:sym typeface="Aileron"/>
              </a:rPr>
              <a:t>ontrole estratégico com painéis em tempo real. Visão completa do estoque, emissão de relatórios de vendas e gestão segura dos acessos dos funcionários.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2886243" y="6461818"/>
            <a:ext cx="4434162" cy="21850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504"/>
              </a:lnSpc>
            </a:pPr>
            <a:r>
              <a:rPr lang="en-US" sz="2695" spc="-18">
                <a:solidFill>
                  <a:srgbClr val="377272"/>
                </a:solidFill>
                <a:latin typeface="Aileron"/>
                <a:ea typeface="Aileron"/>
                <a:cs typeface="Aileron"/>
                <a:sym typeface="Aileron"/>
              </a:rPr>
              <a:t>O beneficiári</a:t>
            </a:r>
            <a:r>
              <a:rPr lang="en-US" sz="2695" spc="-18">
                <a:solidFill>
                  <a:srgbClr val="377272"/>
                </a:solidFill>
                <a:latin typeface="Aileron"/>
                <a:ea typeface="Aileron"/>
                <a:cs typeface="Aileron"/>
                <a:sym typeface="Aileron"/>
              </a:rPr>
              <a:t>o final. Desfruta de um atendimento ágil, sem filas longas, com preços corretos e diversas opções modernas de pagamento.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028700" y="2144692"/>
            <a:ext cx="16239381" cy="14471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0580"/>
              </a:lnSpc>
            </a:pPr>
            <a:r>
              <a:rPr lang="en-US" b="true" sz="11500" spc="-149">
                <a:solidFill>
                  <a:srgbClr val="377272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Benefícios por perfil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4703045" y="1060589"/>
            <a:ext cx="2556255" cy="3002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375"/>
              </a:lnSpc>
            </a:pPr>
            <a:r>
              <a:rPr lang="en-US" sz="2199" spc="-15">
                <a:solidFill>
                  <a:srgbClr val="163B42"/>
                </a:solidFill>
                <a:latin typeface="Aileron Light"/>
                <a:ea typeface="Aileron Light"/>
                <a:cs typeface="Aileron Light"/>
                <a:sym typeface="Aileron Light"/>
              </a:rPr>
              <a:t>Julho, 2026</a:t>
            </a:r>
          </a:p>
        </p:txBody>
      </p:sp>
      <p:sp>
        <p:nvSpPr>
          <p:cNvPr name="Freeform 20" id="20"/>
          <p:cNvSpPr/>
          <p:nvPr/>
        </p:nvSpPr>
        <p:spPr>
          <a:xfrm flipH="false" flipV="false" rot="0">
            <a:off x="1028700" y="958474"/>
            <a:ext cx="385450" cy="478549"/>
          </a:xfrm>
          <a:custGeom>
            <a:avLst/>
            <a:gdLst/>
            <a:ahLst/>
            <a:cxnLst/>
            <a:rect r="r" b="b" t="t" l="l"/>
            <a:pathLst>
              <a:path h="478549" w="385450">
                <a:moveTo>
                  <a:pt x="0" y="0"/>
                </a:moveTo>
                <a:lnTo>
                  <a:pt x="385450" y="0"/>
                </a:lnTo>
                <a:lnTo>
                  <a:pt x="385450" y="478549"/>
                </a:lnTo>
                <a:lnTo>
                  <a:pt x="0" y="47854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1" id="21"/>
          <p:cNvSpPr txBox="true"/>
          <p:nvPr/>
        </p:nvSpPr>
        <p:spPr>
          <a:xfrm rot="0">
            <a:off x="1658876" y="1098689"/>
            <a:ext cx="3558715" cy="2647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1979"/>
              </a:lnSpc>
              <a:spcBef>
                <a:spcPct val="0"/>
              </a:spcBef>
            </a:pPr>
            <a:r>
              <a:rPr lang="en-US" b="true" sz="2199">
                <a:solidFill>
                  <a:srgbClr val="377272"/>
                </a:solidFill>
                <a:latin typeface="Aileron Bold"/>
                <a:ea typeface="Aileron Bold"/>
                <a:cs typeface="Aileron Bold"/>
                <a:sym typeface="Aileron Bold"/>
              </a:rPr>
              <a:t>PVD Mercado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FF0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5916891">
            <a:off x="-1082707" y="6318374"/>
            <a:ext cx="5281054" cy="5988824"/>
          </a:xfrm>
          <a:custGeom>
            <a:avLst/>
            <a:gdLst/>
            <a:ahLst/>
            <a:cxnLst/>
            <a:rect r="r" b="b" t="t" l="l"/>
            <a:pathLst>
              <a:path h="5988824" w="5281054">
                <a:moveTo>
                  <a:pt x="0" y="0"/>
                </a:moveTo>
                <a:lnTo>
                  <a:pt x="5281054" y="0"/>
                </a:lnTo>
                <a:lnTo>
                  <a:pt x="5281054" y="5988823"/>
                </a:lnTo>
                <a:lnTo>
                  <a:pt x="0" y="598882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028700" y="958474"/>
            <a:ext cx="385450" cy="478549"/>
          </a:xfrm>
          <a:custGeom>
            <a:avLst/>
            <a:gdLst/>
            <a:ahLst/>
            <a:cxnLst/>
            <a:rect r="r" b="b" t="t" l="l"/>
            <a:pathLst>
              <a:path h="478549" w="385450">
                <a:moveTo>
                  <a:pt x="0" y="0"/>
                </a:moveTo>
                <a:lnTo>
                  <a:pt x="385450" y="0"/>
                </a:lnTo>
                <a:lnTo>
                  <a:pt x="385450" y="478549"/>
                </a:lnTo>
                <a:lnTo>
                  <a:pt x="0" y="47854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2559573" y="1721117"/>
            <a:ext cx="4286943" cy="7897001"/>
          </a:xfrm>
          <a:custGeom>
            <a:avLst/>
            <a:gdLst/>
            <a:ahLst/>
            <a:cxnLst/>
            <a:rect r="r" b="b" t="t" l="l"/>
            <a:pathLst>
              <a:path h="7897001" w="4286943">
                <a:moveTo>
                  <a:pt x="0" y="0"/>
                </a:moveTo>
                <a:lnTo>
                  <a:pt x="4286943" y="0"/>
                </a:lnTo>
                <a:lnTo>
                  <a:pt x="4286943" y="7897001"/>
                </a:lnTo>
                <a:lnTo>
                  <a:pt x="0" y="7897001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028700" y="2602571"/>
            <a:ext cx="16239381" cy="27901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580"/>
              </a:lnSpc>
            </a:pPr>
            <a:r>
              <a:rPr lang="en-US" sz="11500" spc="-149" b="true">
                <a:solidFill>
                  <a:srgbClr val="377272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Demonstração </a:t>
            </a:r>
          </a:p>
          <a:p>
            <a:pPr algn="l" marL="0" indent="0" lvl="0">
              <a:lnSpc>
                <a:spcPts val="10580"/>
              </a:lnSpc>
            </a:pPr>
            <a:r>
              <a:rPr lang="en-US" b="true" sz="11500" spc="-149">
                <a:solidFill>
                  <a:srgbClr val="377272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do Sistema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4703045" y="1060589"/>
            <a:ext cx="2556255" cy="3002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375"/>
              </a:lnSpc>
            </a:pPr>
            <a:r>
              <a:rPr lang="en-US" sz="2199" spc="-15">
                <a:solidFill>
                  <a:srgbClr val="163B42"/>
                </a:solidFill>
                <a:latin typeface="Aileron Light"/>
                <a:ea typeface="Aileron Light"/>
                <a:cs typeface="Aileron Light"/>
                <a:sym typeface="Aileron Light"/>
              </a:rPr>
              <a:t>Julho, 2026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658876" y="1098689"/>
            <a:ext cx="3558715" cy="2647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1979"/>
              </a:lnSpc>
              <a:spcBef>
                <a:spcPct val="0"/>
              </a:spcBef>
            </a:pPr>
            <a:r>
              <a:rPr lang="en-US" b="true" sz="2199">
                <a:solidFill>
                  <a:srgbClr val="377272"/>
                </a:solidFill>
                <a:latin typeface="Aileron Bold"/>
                <a:ea typeface="Aileron Bold"/>
                <a:cs typeface="Aileron Bold"/>
                <a:sym typeface="Aileron Bold"/>
              </a:rPr>
              <a:t>PVD Mercado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FF0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333298" y="2920532"/>
            <a:ext cx="17621404" cy="6485988"/>
          </a:xfrm>
          <a:custGeom>
            <a:avLst/>
            <a:gdLst/>
            <a:ahLst/>
            <a:cxnLst/>
            <a:rect r="r" b="b" t="t" l="l"/>
            <a:pathLst>
              <a:path h="6485988" w="17621404">
                <a:moveTo>
                  <a:pt x="0" y="0"/>
                </a:moveTo>
                <a:lnTo>
                  <a:pt x="17621404" y="0"/>
                </a:lnTo>
                <a:lnTo>
                  <a:pt x="17621404" y="6485987"/>
                </a:lnTo>
                <a:lnTo>
                  <a:pt x="0" y="648598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12206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2271950" y="426417"/>
            <a:ext cx="13744099" cy="11950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740"/>
              </a:lnSpc>
            </a:pPr>
            <a:r>
              <a:rPr lang="en-US" b="true" sz="9500" spc="-123">
                <a:solidFill>
                  <a:srgbClr val="377272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Diagrama casos de uso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652840" y="1756671"/>
            <a:ext cx="16982320" cy="990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900"/>
              </a:lnSpc>
            </a:pPr>
            <a:r>
              <a:rPr lang="en-US" b="true" sz="3000" spc="-21">
                <a:solidFill>
                  <a:srgbClr val="377272"/>
                </a:solidFill>
                <a:latin typeface="Aileron Bold"/>
                <a:ea typeface="Aileron Bold"/>
                <a:cs typeface="Aileron Bold"/>
                <a:sym typeface="Aileron Bold"/>
              </a:rPr>
              <a:t>Representação da interação entre os atores (gerente e operador de caixa) com o sistema de Supermercado. Facilitando a visualização do projeto a ser implementado.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FF0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358801" y="0"/>
            <a:ext cx="15900499" cy="10992565"/>
          </a:xfrm>
          <a:custGeom>
            <a:avLst/>
            <a:gdLst/>
            <a:ahLst/>
            <a:cxnLst/>
            <a:rect r="r" b="b" t="t" l="l"/>
            <a:pathLst>
              <a:path h="10992565" w="15900499">
                <a:moveTo>
                  <a:pt x="0" y="0"/>
                </a:moveTo>
                <a:lnTo>
                  <a:pt x="15900499" y="0"/>
                </a:lnTo>
                <a:lnTo>
                  <a:pt x="15900499" y="10992565"/>
                </a:lnTo>
                <a:lnTo>
                  <a:pt x="0" y="1099256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8354424" y="6622119"/>
            <a:ext cx="4198347" cy="13059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937"/>
              </a:lnSpc>
            </a:pPr>
            <a:r>
              <a:rPr lang="en-US" b="true" sz="5367" spc="-69">
                <a:solidFill>
                  <a:srgbClr val="377272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Diagrama de Classes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FF0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7964214" y="192152"/>
            <a:ext cx="10025467" cy="9864595"/>
          </a:xfrm>
          <a:custGeom>
            <a:avLst/>
            <a:gdLst/>
            <a:ahLst/>
            <a:cxnLst/>
            <a:rect r="r" b="b" t="t" l="l"/>
            <a:pathLst>
              <a:path h="9864595" w="10025467">
                <a:moveTo>
                  <a:pt x="0" y="0"/>
                </a:moveTo>
                <a:lnTo>
                  <a:pt x="10025467" y="0"/>
                </a:lnTo>
                <a:lnTo>
                  <a:pt x="10025467" y="9864596"/>
                </a:lnTo>
                <a:lnTo>
                  <a:pt x="0" y="986459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5046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445214" y="965475"/>
            <a:ext cx="7861852" cy="22999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740"/>
              </a:lnSpc>
            </a:pPr>
            <a:r>
              <a:rPr lang="en-US" sz="9500" spc="-123" b="true">
                <a:solidFill>
                  <a:srgbClr val="377272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Diagrama de</a:t>
            </a:r>
          </a:p>
          <a:p>
            <a:pPr algn="l" marL="0" indent="0" lvl="0">
              <a:lnSpc>
                <a:spcPts val="8740"/>
              </a:lnSpc>
            </a:pPr>
            <a:r>
              <a:rPr lang="en-US" b="true" sz="9500" spc="-123">
                <a:solidFill>
                  <a:srgbClr val="377272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atividades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445214" y="4133850"/>
            <a:ext cx="6117426" cy="990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900"/>
              </a:lnSpc>
            </a:pPr>
            <a:r>
              <a:rPr lang="en-US" b="true" sz="3000" spc="-21">
                <a:solidFill>
                  <a:srgbClr val="377272"/>
                </a:solidFill>
                <a:latin typeface="Aileron Bold"/>
                <a:ea typeface="Aileron Bold"/>
                <a:cs typeface="Aileron Bold"/>
                <a:sym typeface="Aileron Bold"/>
              </a:rPr>
              <a:t>Representação do fluxo da atividade “Cadastrar produtos”.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FF0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7395188" y="0"/>
            <a:ext cx="9438680" cy="10287000"/>
          </a:xfrm>
          <a:custGeom>
            <a:avLst/>
            <a:gdLst/>
            <a:ahLst/>
            <a:cxnLst/>
            <a:rect r="r" b="b" t="t" l="l"/>
            <a:pathLst>
              <a:path h="10287000" w="9438680">
                <a:moveTo>
                  <a:pt x="0" y="0"/>
                </a:moveTo>
                <a:lnTo>
                  <a:pt x="9438680" y="0"/>
                </a:lnTo>
                <a:lnTo>
                  <a:pt x="943868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566815" y="1005899"/>
            <a:ext cx="6510541" cy="22404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722"/>
              </a:lnSpc>
            </a:pPr>
            <a:r>
              <a:rPr lang="en-US" b="true" sz="6219" spc="-80">
                <a:solidFill>
                  <a:srgbClr val="377272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Diagrama de Sequência - Finaliza venda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FF0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529457" y="550151"/>
            <a:ext cx="385450" cy="478549"/>
          </a:xfrm>
          <a:custGeom>
            <a:avLst/>
            <a:gdLst/>
            <a:ahLst/>
            <a:cxnLst/>
            <a:rect r="r" b="b" t="t" l="l"/>
            <a:pathLst>
              <a:path h="478549" w="385450">
                <a:moveTo>
                  <a:pt x="0" y="0"/>
                </a:moveTo>
                <a:lnTo>
                  <a:pt x="385450" y="0"/>
                </a:lnTo>
                <a:lnTo>
                  <a:pt x="385450" y="478549"/>
                </a:lnTo>
                <a:lnTo>
                  <a:pt x="0" y="47854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159633" y="690366"/>
            <a:ext cx="3558715" cy="2647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1979"/>
              </a:lnSpc>
              <a:spcBef>
                <a:spcPct val="0"/>
              </a:spcBef>
            </a:pPr>
            <a:r>
              <a:rPr lang="en-US" b="true" sz="2199">
                <a:solidFill>
                  <a:srgbClr val="377272"/>
                </a:solidFill>
                <a:latin typeface="Aileron Bold"/>
                <a:ea typeface="Aileron Bold"/>
                <a:cs typeface="Aileron Bold"/>
                <a:sym typeface="Aileron Bold"/>
              </a:rPr>
              <a:t>PVD Mercado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3361536" y="1877048"/>
            <a:ext cx="11564928" cy="29127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040"/>
              </a:lnSpc>
            </a:pPr>
            <a:r>
              <a:rPr lang="en-US" b="true" sz="12000" spc="-156">
                <a:solidFill>
                  <a:srgbClr val="377272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Considerações</a:t>
            </a:r>
            <a:r>
              <a:rPr lang="en-US" b="true" sz="12000" spc="-156">
                <a:solidFill>
                  <a:srgbClr val="377272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 </a:t>
            </a:r>
          </a:p>
          <a:p>
            <a:pPr algn="ctr" marL="0" indent="0" lvl="0">
              <a:lnSpc>
                <a:spcPts val="11040"/>
              </a:lnSpc>
            </a:pPr>
            <a:r>
              <a:rPr lang="en-US" b="true" sz="12000" spc="-156">
                <a:solidFill>
                  <a:srgbClr val="377272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Finais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529457" y="5858351"/>
            <a:ext cx="8104370" cy="3399949"/>
            <a:chOff x="0" y="0"/>
            <a:chExt cx="2134484" cy="89546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134484" cy="895460"/>
            </a:xfrm>
            <a:custGeom>
              <a:avLst/>
              <a:gdLst/>
              <a:ahLst/>
              <a:cxnLst/>
              <a:rect r="r" b="b" t="t" l="l"/>
              <a:pathLst>
                <a:path h="895460" w="2134484">
                  <a:moveTo>
                    <a:pt x="28658" y="0"/>
                  </a:moveTo>
                  <a:lnTo>
                    <a:pt x="2105826" y="0"/>
                  </a:lnTo>
                  <a:cubicBezTo>
                    <a:pt x="2121654" y="0"/>
                    <a:pt x="2134484" y="12831"/>
                    <a:pt x="2134484" y="28658"/>
                  </a:cubicBezTo>
                  <a:lnTo>
                    <a:pt x="2134484" y="866802"/>
                  </a:lnTo>
                  <a:cubicBezTo>
                    <a:pt x="2134484" y="874402"/>
                    <a:pt x="2131465" y="881692"/>
                    <a:pt x="2126091" y="887066"/>
                  </a:cubicBezTo>
                  <a:cubicBezTo>
                    <a:pt x="2120716" y="892440"/>
                    <a:pt x="2113427" y="895460"/>
                    <a:pt x="2105826" y="895460"/>
                  </a:cubicBezTo>
                  <a:lnTo>
                    <a:pt x="28658" y="895460"/>
                  </a:lnTo>
                  <a:cubicBezTo>
                    <a:pt x="21058" y="895460"/>
                    <a:pt x="13768" y="892440"/>
                    <a:pt x="8394" y="887066"/>
                  </a:cubicBezTo>
                  <a:cubicBezTo>
                    <a:pt x="3019" y="881692"/>
                    <a:pt x="0" y="874402"/>
                    <a:pt x="0" y="866802"/>
                  </a:cubicBezTo>
                  <a:lnTo>
                    <a:pt x="0" y="28658"/>
                  </a:lnTo>
                  <a:cubicBezTo>
                    <a:pt x="0" y="21058"/>
                    <a:pt x="3019" y="13768"/>
                    <a:pt x="8394" y="8394"/>
                  </a:cubicBezTo>
                  <a:cubicBezTo>
                    <a:pt x="13768" y="3019"/>
                    <a:pt x="21058" y="0"/>
                    <a:pt x="28658" y="0"/>
                  </a:cubicBezTo>
                  <a:close/>
                </a:path>
              </a:pathLst>
            </a:custGeom>
            <a:solidFill>
              <a:srgbClr val="EFF0EA"/>
            </a:solidFill>
            <a:ln w="19050" cap="rnd">
              <a:gradFill>
                <a:gsLst>
                  <a:gs pos="0">
                    <a:srgbClr val="3B6261">
                      <a:alpha val="100000"/>
                    </a:srgbClr>
                  </a:gs>
                  <a:gs pos="100000">
                    <a:srgbClr val="6F9F97">
                      <a:alpha val="100000"/>
                    </a:srgbClr>
                  </a:gs>
                </a:gsLst>
                <a:lin ang="0"/>
              </a:gradFill>
              <a:prstDash val="solid"/>
              <a:round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2134484" cy="93356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787213" y="6474698"/>
            <a:ext cx="7588859" cy="21386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379"/>
              </a:lnSpc>
            </a:pPr>
            <a:r>
              <a:rPr lang="en-US" sz="2599">
                <a:solidFill>
                  <a:srgbClr val="2E6D6D"/>
                </a:solidFill>
                <a:latin typeface="Aileron"/>
                <a:ea typeface="Aileron"/>
                <a:cs typeface="Aileron"/>
                <a:sym typeface="Aileron"/>
              </a:rPr>
              <a:t>Tivemos mais dificuldade em modelar o sistema e montar os diagramas do que em escrever o próprio código. Pensar como as classes se relacionam antes de sair programando acabou sendo mais desafiador do que a implementação em si.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9457216" y="5858351"/>
            <a:ext cx="8224922" cy="3399949"/>
            <a:chOff x="0" y="0"/>
            <a:chExt cx="2166235" cy="89546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166235" cy="895460"/>
            </a:xfrm>
            <a:custGeom>
              <a:avLst/>
              <a:gdLst/>
              <a:ahLst/>
              <a:cxnLst/>
              <a:rect r="r" b="b" t="t" l="l"/>
              <a:pathLst>
                <a:path h="895460" w="2166235">
                  <a:moveTo>
                    <a:pt x="28238" y="0"/>
                  </a:moveTo>
                  <a:lnTo>
                    <a:pt x="2137996" y="0"/>
                  </a:lnTo>
                  <a:cubicBezTo>
                    <a:pt x="2145486" y="0"/>
                    <a:pt x="2152668" y="2975"/>
                    <a:pt x="2157964" y="8271"/>
                  </a:cubicBezTo>
                  <a:cubicBezTo>
                    <a:pt x="2163260" y="13567"/>
                    <a:pt x="2166235" y="20749"/>
                    <a:pt x="2166235" y="28238"/>
                  </a:cubicBezTo>
                  <a:lnTo>
                    <a:pt x="2166235" y="867222"/>
                  </a:lnTo>
                  <a:cubicBezTo>
                    <a:pt x="2166235" y="874711"/>
                    <a:pt x="2163260" y="881893"/>
                    <a:pt x="2157964" y="887189"/>
                  </a:cubicBezTo>
                  <a:cubicBezTo>
                    <a:pt x="2152668" y="892485"/>
                    <a:pt x="2145486" y="895460"/>
                    <a:pt x="2137996" y="895460"/>
                  </a:cubicBezTo>
                  <a:lnTo>
                    <a:pt x="28238" y="895460"/>
                  </a:lnTo>
                  <a:cubicBezTo>
                    <a:pt x="20749" y="895460"/>
                    <a:pt x="13567" y="892485"/>
                    <a:pt x="8271" y="887189"/>
                  </a:cubicBezTo>
                  <a:cubicBezTo>
                    <a:pt x="2975" y="881893"/>
                    <a:pt x="0" y="874711"/>
                    <a:pt x="0" y="867222"/>
                  </a:cubicBezTo>
                  <a:lnTo>
                    <a:pt x="0" y="28238"/>
                  </a:lnTo>
                  <a:cubicBezTo>
                    <a:pt x="0" y="20749"/>
                    <a:pt x="2975" y="13567"/>
                    <a:pt x="8271" y="8271"/>
                  </a:cubicBezTo>
                  <a:cubicBezTo>
                    <a:pt x="13567" y="2975"/>
                    <a:pt x="20749" y="0"/>
                    <a:pt x="28238" y="0"/>
                  </a:cubicBezTo>
                  <a:close/>
                </a:path>
              </a:pathLst>
            </a:custGeom>
            <a:solidFill>
              <a:srgbClr val="EFF0EA"/>
            </a:solidFill>
            <a:ln w="19050" cap="rnd">
              <a:gradFill>
                <a:gsLst>
                  <a:gs pos="0">
                    <a:srgbClr val="3B6261">
                      <a:alpha val="100000"/>
                    </a:srgbClr>
                  </a:gs>
                  <a:gs pos="100000">
                    <a:srgbClr val="6F9F97">
                      <a:alpha val="100000"/>
                    </a:srgbClr>
                  </a:gs>
                </a:gsLst>
                <a:lin ang="0"/>
              </a:gradFill>
              <a:prstDash val="solid"/>
              <a:round/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0" y="-38100"/>
              <a:ext cx="2166235" cy="93356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12" id="12"/>
          <p:cNvSpPr txBox="true"/>
          <p:nvPr/>
        </p:nvSpPr>
        <p:spPr>
          <a:xfrm rot="0">
            <a:off x="9724122" y="6474698"/>
            <a:ext cx="7691111" cy="21386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379"/>
              </a:lnSpc>
            </a:pPr>
            <a:r>
              <a:rPr lang="en-US" sz="2599">
                <a:solidFill>
                  <a:srgbClr val="2E6D6D"/>
                </a:solidFill>
                <a:latin typeface="Aileron"/>
                <a:ea typeface="Aileron"/>
                <a:cs typeface="Aileron"/>
                <a:sym typeface="Aileron"/>
              </a:rPr>
              <a:t>Um desafio que não esperávamos foi encontrar o equilíbrio entre usar POO e não usar demais. Chegamos a pensar em criar classes e interfaces que, no fim, deixariam o código mais complicado sem necessidade. 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FF0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7314118">
            <a:off x="-2046524" y="3776605"/>
            <a:ext cx="7730547" cy="8766599"/>
          </a:xfrm>
          <a:custGeom>
            <a:avLst/>
            <a:gdLst/>
            <a:ahLst/>
            <a:cxnLst/>
            <a:rect r="r" b="b" t="t" l="l"/>
            <a:pathLst>
              <a:path h="8766599" w="7730547">
                <a:moveTo>
                  <a:pt x="0" y="0"/>
                </a:moveTo>
                <a:lnTo>
                  <a:pt x="7730547" y="0"/>
                </a:lnTo>
                <a:lnTo>
                  <a:pt x="7730547" y="8766600"/>
                </a:lnTo>
                <a:lnTo>
                  <a:pt x="0" y="87666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6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5262638">
            <a:off x="-2056903" y="5761004"/>
            <a:ext cx="7431557" cy="7772988"/>
          </a:xfrm>
          <a:custGeom>
            <a:avLst/>
            <a:gdLst/>
            <a:ahLst/>
            <a:cxnLst/>
            <a:rect r="r" b="b" t="t" l="l"/>
            <a:pathLst>
              <a:path h="7772988" w="7431557">
                <a:moveTo>
                  <a:pt x="0" y="0"/>
                </a:moveTo>
                <a:lnTo>
                  <a:pt x="7431557" y="0"/>
                </a:lnTo>
                <a:lnTo>
                  <a:pt x="7431557" y="7772988"/>
                </a:lnTo>
                <a:lnTo>
                  <a:pt x="0" y="777298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028700" y="1028700"/>
            <a:ext cx="385450" cy="478549"/>
          </a:xfrm>
          <a:custGeom>
            <a:avLst/>
            <a:gdLst/>
            <a:ahLst/>
            <a:cxnLst/>
            <a:rect r="r" b="b" t="t" l="l"/>
            <a:pathLst>
              <a:path h="478549" w="385450">
                <a:moveTo>
                  <a:pt x="0" y="0"/>
                </a:moveTo>
                <a:lnTo>
                  <a:pt x="385450" y="0"/>
                </a:lnTo>
                <a:lnTo>
                  <a:pt x="385450" y="478549"/>
                </a:lnTo>
                <a:lnTo>
                  <a:pt x="0" y="47854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10291582">
            <a:off x="13155984" y="-1306306"/>
            <a:ext cx="5476897" cy="6210915"/>
          </a:xfrm>
          <a:custGeom>
            <a:avLst/>
            <a:gdLst/>
            <a:ahLst/>
            <a:cxnLst/>
            <a:rect r="r" b="b" t="t" l="l"/>
            <a:pathLst>
              <a:path h="6210915" w="5476897">
                <a:moveTo>
                  <a:pt x="0" y="0"/>
                </a:moveTo>
                <a:lnTo>
                  <a:pt x="5476898" y="0"/>
                </a:lnTo>
                <a:lnTo>
                  <a:pt x="5476898" y="6210915"/>
                </a:lnTo>
                <a:lnTo>
                  <a:pt x="0" y="621091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2137191" y="3883111"/>
            <a:ext cx="14013619" cy="42974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240"/>
              </a:lnSpc>
            </a:pPr>
            <a:r>
              <a:rPr lang="en-US" sz="18044" spc="-234" b="true">
                <a:solidFill>
                  <a:srgbClr val="2E6D6D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Obrigado(a)</a:t>
            </a:r>
          </a:p>
          <a:p>
            <a:pPr algn="l" marL="0" indent="0" lvl="0">
              <a:lnSpc>
                <a:spcPts val="16240"/>
              </a:lnSpc>
            </a:pPr>
            <a:r>
              <a:rPr lang="en-US" b="true" sz="18044" spc="-234">
                <a:solidFill>
                  <a:srgbClr val="2E6D6D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pela atenção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658876" y="1168915"/>
            <a:ext cx="3558715" cy="2647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1979"/>
              </a:lnSpc>
              <a:spcBef>
                <a:spcPct val="0"/>
              </a:spcBef>
            </a:pPr>
            <a:r>
              <a:rPr lang="en-US" b="true" sz="2199">
                <a:solidFill>
                  <a:srgbClr val="377272"/>
                </a:solidFill>
                <a:latin typeface="Aileron Bold"/>
                <a:ea typeface="Aileron Bold"/>
                <a:cs typeface="Aileron Bold"/>
                <a:sym typeface="Aileron Bold"/>
              </a:rPr>
              <a:t>PVD Mercado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DAHPTkjfz0w</dc:identifier>
  <dcterms:modified xsi:type="dcterms:W3CDTF">2011-08-01T06:04:30Z</dcterms:modified>
  <cp:revision>1</cp:revision>
  <dc:title>PDV Mercado</dc:title>
</cp:coreProperties>
</file>